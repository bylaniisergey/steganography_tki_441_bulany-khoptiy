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1"/>
  </p:notesMasterIdLst>
  <p:sldIdLst>
    <p:sldId id="302" r:id="rId2"/>
    <p:sldId id="298" r:id="rId3"/>
    <p:sldId id="259" r:id="rId4"/>
    <p:sldId id="260" r:id="rId5"/>
    <p:sldId id="262" r:id="rId6"/>
    <p:sldId id="264" r:id="rId7"/>
    <p:sldId id="265" r:id="rId8"/>
    <p:sldId id="299" r:id="rId9"/>
    <p:sldId id="266" r:id="rId10"/>
    <p:sldId id="300" r:id="rId11"/>
    <p:sldId id="267" r:id="rId12"/>
    <p:sldId id="301" r:id="rId13"/>
    <p:sldId id="342" r:id="rId14"/>
    <p:sldId id="268" r:id="rId15"/>
    <p:sldId id="269" r:id="rId16"/>
    <p:sldId id="303" r:id="rId17"/>
    <p:sldId id="270" r:id="rId18"/>
    <p:sldId id="304" r:id="rId19"/>
    <p:sldId id="271" r:id="rId20"/>
    <p:sldId id="305" r:id="rId21"/>
    <p:sldId id="343" r:id="rId22"/>
    <p:sldId id="272" r:id="rId23"/>
    <p:sldId id="273" r:id="rId24"/>
    <p:sldId id="306" r:id="rId25"/>
    <p:sldId id="274" r:id="rId26"/>
    <p:sldId id="307" r:id="rId27"/>
    <p:sldId id="275" r:id="rId28"/>
    <p:sldId id="308" r:id="rId29"/>
    <p:sldId id="344" r:id="rId30"/>
    <p:sldId id="276" r:id="rId31"/>
    <p:sldId id="277" r:id="rId32"/>
    <p:sldId id="309" r:id="rId33"/>
    <p:sldId id="278" r:id="rId34"/>
    <p:sldId id="310" r:id="rId35"/>
    <p:sldId id="279" r:id="rId36"/>
    <p:sldId id="311" r:id="rId37"/>
    <p:sldId id="345" r:id="rId38"/>
    <p:sldId id="280" r:id="rId39"/>
    <p:sldId id="281" r:id="rId40"/>
    <p:sldId id="312" r:id="rId41"/>
    <p:sldId id="282" r:id="rId42"/>
    <p:sldId id="313" r:id="rId43"/>
    <p:sldId id="283" r:id="rId44"/>
    <p:sldId id="314" r:id="rId45"/>
    <p:sldId id="346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47" r:id="rId54"/>
    <p:sldId id="329" r:id="rId55"/>
    <p:sldId id="331" r:id="rId56"/>
    <p:sldId id="332" r:id="rId57"/>
    <p:sldId id="333" r:id="rId58"/>
    <p:sldId id="335" r:id="rId59"/>
    <p:sldId id="334" r:id="rId60"/>
    <p:sldId id="336" r:id="rId61"/>
    <p:sldId id="337" r:id="rId62"/>
    <p:sldId id="338" r:id="rId63"/>
    <p:sldId id="339" r:id="rId64"/>
    <p:sldId id="340" r:id="rId65"/>
    <p:sldId id="349" r:id="rId66"/>
    <p:sldId id="348" r:id="rId67"/>
    <p:sldId id="261" r:id="rId68"/>
    <p:sldId id="296" r:id="rId69"/>
    <p:sldId id="297" r:id="rId7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1C81DD3-A116-4732-BD58-7E41D5B5C2B8}">
          <p14:sldIdLst>
            <p14:sldId id="302"/>
            <p14:sldId id="298"/>
            <p14:sldId id="259"/>
            <p14:sldId id="260"/>
            <p14:sldId id="262"/>
            <p14:sldId id="264"/>
            <p14:sldId id="265"/>
            <p14:sldId id="299"/>
            <p14:sldId id="266"/>
            <p14:sldId id="300"/>
            <p14:sldId id="267"/>
            <p14:sldId id="301"/>
            <p14:sldId id="342"/>
            <p14:sldId id="268"/>
            <p14:sldId id="269"/>
            <p14:sldId id="303"/>
            <p14:sldId id="270"/>
            <p14:sldId id="304"/>
            <p14:sldId id="271"/>
            <p14:sldId id="305"/>
            <p14:sldId id="343"/>
            <p14:sldId id="272"/>
            <p14:sldId id="273"/>
            <p14:sldId id="306"/>
            <p14:sldId id="274"/>
            <p14:sldId id="307"/>
            <p14:sldId id="275"/>
            <p14:sldId id="308"/>
            <p14:sldId id="344"/>
            <p14:sldId id="276"/>
            <p14:sldId id="277"/>
            <p14:sldId id="309"/>
            <p14:sldId id="278"/>
            <p14:sldId id="310"/>
            <p14:sldId id="279"/>
            <p14:sldId id="311"/>
            <p14:sldId id="345"/>
            <p14:sldId id="280"/>
            <p14:sldId id="281"/>
            <p14:sldId id="312"/>
            <p14:sldId id="282"/>
            <p14:sldId id="313"/>
            <p14:sldId id="283"/>
            <p14:sldId id="314"/>
            <p14:sldId id="346"/>
            <p14:sldId id="315"/>
            <p14:sldId id="316"/>
            <p14:sldId id="317"/>
            <p14:sldId id="318"/>
            <p14:sldId id="319"/>
            <p14:sldId id="320"/>
            <p14:sldId id="321"/>
            <p14:sldId id="347"/>
            <p14:sldId id="329"/>
            <p14:sldId id="331"/>
            <p14:sldId id="332"/>
            <p14:sldId id="333"/>
            <p14:sldId id="335"/>
            <p14:sldId id="334"/>
            <p14:sldId id="336"/>
            <p14:sldId id="337"/>
            <p14:sldId id="338"/>
            <p14:sldId id="339"/>
            <p14:sldId id="340"/>
            <p14:sldId id="349"/>
            <p14:sldId id="348"/>
            <p14:sldId id="261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ртем Козлов" initials="АК" lastIdx="1" clrIdx="0">
    <p:extLst>
      <p:ext uri="{19B8F6BF-5375-455C-9EA6-DF929625EA0E}">
        <p15:presenceInfo xmlns:p15="http://schemas.microsoft.com/office/powerpoint/2012/main" userId="a9ae5842d607e6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CE"/>
    <a:srgbClr val="C6EF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3564" autoAdjust="0"/>
  </p:normalViewPr>
  <p:slideViewPr>
    <p:cSldViewPr snapToGrid="0">
      <p:cViewPr varScale="1">
        <p:scale>
          <a:sx n="84" d="100"/>
          <a:sy n="84" d="100"/>
        </p:scale>
        <p:origin x="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053C0-DF1D-405F-B090-03AC5696846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755A-CE01-43CD-8BF8-84366ACE5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25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307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494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D4F604-C3FA-4E01-BFFB-A69E38B31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5AECE2-477F-4171-A7EA-A4AAA8D81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F98D71-5AD4-4C45-9CC6-19F89C46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D394-84CF-45DA-A101-8C5D6CB4B148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EB4C22-2FA8-482D-8ADC-757F0FC2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302F05-05CD-41DC-ABC4-EF4EBCEA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89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D0F34-8E99-4B22-96DC-D2FD6852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C18C7F-E572-4557-A2F5-A72CEA6F5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90086E-0A92-4B18-83B9-01EDD8D9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58B0-0334-49A5-8092-2D675EA08A60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E45A5F-AB8B-49A0-A873-9C961ECD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C8311F-31DC-458A-A5A6-00ECA72B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037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69AD6-2369-4A11-9E5B-40DBED24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C31B8-1D2F-47F6-8A76-D30F40271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A4F699-20A0-4271-9AFB-69167A0F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E4760-8BDF-473B-B381-6F4F3C81EE7D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86EE2-EAA2-4D27-B91E-D7FB8375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ACBF67-365F-4F87-9ECC-B7277ED7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6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37EBE-7E95-4601-8F68-0FCE4D142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AC35F-B517-4589-AB6D-94978D832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CEF777-130F-431B-8398-FF659AD17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8E05E5-9510-47D4-B1B5-4346AEAD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E8CC5-5620-4660-A51B-107B80DB3326}" type="datetime1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4AB918-BF4F-47DF-A0FF-CAFDFE4B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549A2C-9FF9-417C-9C20-97995AF5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8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E5276-3E9E-4BA7-B96D-B498677D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9CADC-D07F-40A7-81BF-461F8A03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40F994-3290-4EC1-A25B-1284B381D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64B621-0AD1-4FA0-AE2D-FB0FBD959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E6E883-8713-49CD-BE03-6A821475A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3A34038-BC11-413D-AB61-677687BF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61A68-8763-48E0-81B5-221FABD70593}" type="datetime1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F17C6-4B89-44D4-B022-AE331D044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52426A-9406-4921-A981-3297916C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87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59239-D505-4C6E-AD2F-C65EE4B8D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D72104-EB9E-43EF-AFCE-7927BBFD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9EB7-9C20-419B-8DCA-CA8BC3411EFF}" type="datetime1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9C84FE-CDAE-41EF-BA5D-9D636127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D10405-05F2-447D-A13D-D1A06E1E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84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CA2B04-DCE8-4542-8641-A6B8F239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72EE4-6714-4932-AF48-F2E84B9A03BF}" type="datetime1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78DD4C1-FE1F-4CE3-91B9-C43199FF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6FA60-D286-477D-A1A3-86452E47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63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E2076-FD44-4B8F-8BA9-EE87DFDD8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83F8C9-9357-4724-9592-3727C66E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8B1EDA-C00D-4594-BFD7-22549B71D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617521-11A8-472E-A0CD-C49B8AFC1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7216-339C-4A25-AE6E-566F6A05FFDA}" type="datetime1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37E927-3313-4036-A8D0-65F30DAB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72B51A-BF62-4693-A81F-F8F2A485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46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DE974-445E-472B-9A68-466F2946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A7DBA17-159F-487B-A6DA-2EE561164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74F79C-594D-4F93-B8E0-748C01785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E31528-A0B8-4383-89D8-15CB857B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D76E-E902-4534-BB29-CCB3A1073BD7}" type="datetime1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0DAA05-40DF-4189-B788-58052E8A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7E7FCA-F863-4314-B9D4-CD76BD77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583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D021C-E07A-458B-9B81-BC8D2595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35D0EE-93DE-4E55-B803-6DF49B556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76511A-F1A6-4500-BB32-B3C2C0BA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2BD2-B8F2-4D54-BA80-09CAD9DE2B2B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B12F1-2334-4F75-8BF2-E2D34417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4E9BB6-0B7F-48CE-B2EF-FA688EF3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372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78B4A1F-B540-4BB3-AB45-88018FA0F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C3A20C-7AC1-49FD-B416-706B8EC33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3E1144-7529-459C-A80D-0ED30AB15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FF62-6BDB-4942-AC87-6CDA18FF88BB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E9F70D-5AE3-44AC-891C-752A1791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97C254-9AEE-4DF7-9F8B-96FA6603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85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B5CA4-B2AC-475C-B752-928FF143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4B0601-DB04-48AC-A3CA-AB03B1821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6593E3-443E-46D6-A0AA-471DB7109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57BA4-0E3C-487A-AE00-4C9192BAF6BB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46B8D3-9ECA-417C-AB2D-55556A04D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FC1816-842B-4A86-BE48-37EC644DB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B18B1-B91B-4712-9FB4-48DA996CE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1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65A56-6263-4248-9BE6-CE5925481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3237395"/>
            <a:ext cx="12191999" cy="1543049"/>
          </a:xfrm>
        </p:spPr>
        <p:txBody>
          <a:bodyPr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работа № 1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«Генераторы псевдослучайных чисел. Генератор Дженнингса»</a:t>
            </a:r>
            <a:endParaRPr lang="ru-RU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988759-B85E-4CCE-B449-C8D83A96BCAE}"/>
              </a:ext>
            </a:extLst>
          </p:cNvPr>
          <p:cNvSpPr/>
          <p:nvPr/>
        </p:nvSpPr>
        <p:spPr>
          <a:xfrm>
            <a:off x="5371987" y="6178549"/>
            <a:ext cx="1448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Москва 2026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CE6D48-B7C0-4340-9137-F6342D6F4274}"/>
              </a:ext>
            </a:extLst>
          </p:cNvPr>
          <p:cNvSpPr/>
          <p:nvPr/>
        </p:nvSpPr>
        <p:spPr>
          <a:xfrm>
            <a:off x="7086600" y="4780444"/>
            <a:ext cx="43767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Выполнили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Буланый С. Е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., Хоптий П. В.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</a:rPr>
              <a:t>Проверили</a:t>
            </a:r>
            <a:r>
              <a:rPr lang="en-US" dirty="0">
                <a:latin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</a:rPr>
              <a:t>проф., д. т. н. Сидоренко В. Г.</a:t>
            </a:r>
            <a:r>
              <a:rPr lang="en-US" dirty="0">
                <a:latin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                     </a:t>
            </a:r>
            <a:r>
              <a:rPr lang="ru-RU" dirty="0">
                <a:latin typeface="Times New Roman" panose="02020603050405020304" pitchFamily="18" charset="0"/>
              </a:rPr>
              <a:t>доц., к. т. н. Сафронов А. 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7739452-0D23-42BC-815E-6CC5D8A657D4}"/>
              </a:ext>
            </a:extLst>
          </p:cNvPr>
          <p:cNvSpPr/>
          <p:nvPr/>
        </p:nvSpPr>
        <p:spPr>
          <a:xfrm>
            <a:off x="-1" y="9204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ТРАНСПОРТА РОССИЙСКОЙ ФЕДЕРАЦИИ</a:t>
            </a:r>
          </a:p>
          <a:p>
            <a:pPr algn="ctr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«РОССИЙСКИЙ УНИВЕРСИТЕТ ТРАНСПОРТА»</a:t>
            </a:r>
          </a:p>
          <a:p>
            <a:pPr algn="ctr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(ФГАОУ ВО РУТ (МИИТ), РУТ (МИИТ)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</a:rPr>
              <a:t>ИНСТИТУТ ЖЕЛЕЗНОДОРОЖНОГО ТРАНСПОРТА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</a:rPr>
              <a:t>Интеллектуальное управление и информационная безопасность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</a:rPr>
              <a:t>в высокоавтоматизированных транспортных системах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69A9E69-54F1-40C1-95C5-0B355753855A}"/>
              </a:ext>
            </a:extLst>
          </p:cNvPr>
          <p:cNvSpPr/>
          <p:nvPr/>
        </p:nvSpPr>
        <p:spPr>
          <a:xfrm>
            <a:off x="2442838" y="2306984"/>
            <a:ext cx="7306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</a:rPr>
              <a:t>Доклад по дисциплине «</a:t>
            </a:r>
            <a:r>
              <a:rPr lang="ru-RU" dirty="0" err="1">
                <a:latin typeface="Times New Roman" panose="02020603050405020304" pitchFamily="18" charset="0"/>
              </a:rPr>
              <a:t>Стеганографические</a:t>
            </a:r>
            <a:r>
              <a:rPr lang="ru-RU" dirty="0">
                <a:latin typeface="Times New Roman" panose="02020603050405020304" pitchFamily="18" charset="0"/>
              </a:rPr>
              <a:t> методы защиты информации»</a:t>
            </a:r>
          </a:p>
        </p:txBody>
      </p:sp>
    </p:spTree>
    <p:extLst>
      <p:ext uri="{BB962C8B-B14F-4D97-AF65-F5344CB8AC3E}">
        <p14:creationId xmlns:p14="http://schemas.microsoft.com/office/powerpoint/2010/main" val="29386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162" y="456871"/>
            <a:ext cx="7404926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ru-RU" sz="2800" b="1" dirty="0">
                <a:latin typeface="Times New Roman"/>
                <a:ea typeface="Times New Roman"/>
                <a:cs typeface="Times New Roman"/>
              </a:rPr>
              <a:t>Линейный регистр с обратной связью </a:t>
            </a:r>
            <a:endParaRPr lang="ru-RU" sz="2800" b="1" i="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F2A8F22-DE57-4A8A-A435-CDF462E08127}"/>
              </a:ext>
            </a:extLst>
          </p:cNvPr>
          <p:cNvSpPr/>
          <p:nvPr/>
        </p:nvSpPr>
        <p:spPr>
          <a:xfrm>
            <a:off x="417100" y="5072683"/>
            <a:ext cx="10936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Линейный регистр с обратной связью состоит из двух частей: регистра сдвига и последовательности ответвления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F4C3DEE-B94D-4F9D-A5A6-8EA0C27AFC4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286" y="1656728"/>
            <a:ext cx="8731663" cy="267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6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162" y="456871"/>
            <a:ext cx="7404926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ru-RU" sz="2800" b="1" i="0" dirty="0">
                <a:latin typeface="Times New Roman"/>
                <a:ea typeface="Times New Roman"/>
                <a:cs typeface="Times New Roman"/>
              </a:rPr>
              <a:t>Генератор Дженнингса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FBB536-2500-4E72-A3F8-E50ECDCB876D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1860" y="1139507"/>
            <a:ext cx="6646228" cy="3646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172E176-06DD-42E0-B211-44F9EB926F2D}"/>
              </a:ext>
            </a:extLst>
          </p:cNvPr>
          <p:cNvSpPr/>
          <p:nvPr/>
        </p:nvSpPr>
        <p:spPr>
          <a:xfrm>
            <a:off x="532511" y="4967273"/>
            <a:ext cx="109546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ЛРОС-1 управляет мультиплексором и выбирает какой бит ЛРОС-2 будет использоваться в качестве выходного бита для генерации псевдослучайного числа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324091"/>
            <a:ext cx="685800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ru-RU" sz="2800" b="1" i="0" dirty="0">
                <a:latin typeface="Times New Roman"/>
                <a:ea typeface="Times New Roman"/>
                <a:cs typeface="Times New Roman"/>
              </a:rPr>
              <a:t>Ключ и параметры генератора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</a:t>
            </a:fld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11247120" cy="39609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lang="ru-RU" sz="1900" b="1" i="0" dirty="0">
                <a:latin typeface="Times New Roman"/>
                <a:ea typeface="Times New Roman"/>
                <a:cs typeface="Times New Roman"/>
              </a:rPr>
              <a:t>ЛРОС</a:t>
            </a:r>
            <a:r>
              <a:rPr lang="ru-RU" sz="1900" b="0" i="0" dirty="0">
                <a:latin typeface="Times New Roman"/>
                <a:ea typeface="Times New Roman"/>
                <a:cs typeface="Times New Roman"/>
              </a:rPr>
              <a:t> (линейный регистр сдвига с обратной связью) — регистр из n ячеек. На каждом такте содержимое сдвигается, а новый бит вычисляется как сумма по модулю 2 ячеек, номера которых заданы «влияющими битами».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lang="ru-RU" sz="1900" b="0" i="0" dirty="0">
                <a:latin typeface="Times New Roman"/>
                <a:ea typeface="Times New Roman"/>
                <a:cs typeface="Times New Roman"/>
              </a:rPr>
              <a:t>Ключ генератора Дженнингса — начальные состояния регистров и функция отображения θ.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lang="ru-RU" sz="1900" b="0" i="0" dirty="0">
                <a:latin typeface="Times New Roman"/>
                <a:ea typeface="Times New Roman"/>
                <a:cs typeface="Times New Roman"/>
              </a:rPr>
              <a:t>Параметры в программе: </a:t>
            </a:r>
          </a:p>
          <a:p>
            <a:pPr algn="just">
              <a:lnSpc>
                <a:spcPct val="108000"/>
              </a:lnSpc>
              <a:spcAft>
                <a:spcPts val="1000"/>
              </a:spcAft>
            </a:pPr>
            <a:r>
              <a:rPr lang="ru-RU" sz="1900" dirty="0">
                <a:latin typeface="Times New Roman"/>
                <a:cs typeface="Times New Roman"/>
              </a:rPr>
              <a:t>     1) начальное состояние ЛРОС в двоичном или шестнадцатеричном виде, </a:t>
            </a:r>
          </a:p>
          <a:p>
            <a:pPr algn="just">
              <a:lnSpc>
                <a:spcPct val="108000"/>
              </a:lnSpc>
              <a:spcAft>
                <a:spcPts val="1000"/>
              </a:spcAft>
            </a:pPr>
            <a:r>
              <a:rPr lang="ru-RU" sz="1900" dirty="0">
                <a:latin typeface="Times New Roman"/>
                <a:cs typeface="Times New Roman"/>
              </a:rPr>
              <a:t>     2) влияющие биты, </a:t>
            </a:r>
          </a:p>
          <a:p>
            <a:pPr algn="just">
              <a:lnSpc>
                <a:spcPct val="108000"/>
              </a:lnSpc>
              <a:spcAft>
                <a:spcPts val="1000"/>
              </a:spcAft>
            </a:pPr>
            <a:r>
              <a:rPr lang="ru-RU" sz="1900" dirty="0">
                <a:latin typeface="Times New Roman"/>
                <a:cs typeface="Times New Roman"/>
              </a:rPr>
              <a:t>     3) длина регистра;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lang="ru-RU" sz="1900" b="0">
                <a:latin typeface="Times New Roman"/>
                <a:ea typeface="Times New Roman"/>
                <a:cs typeface="Times New Roman"/>
              </a:rPr>
              <a:t>В работе исследованы три набора отводов: набор А — 2, 4, 6 и 6, 7, 8; набор Б — 32, 22, 2 и 32, 7, 5 (оба при регистрах по 32 бита); набор В — подобран перебором так, чтобы доля единиц на выходе была близка к 0,5, в двух независимых прогонах при равных 16-битных регистрах (запуски 6 и 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84388"/>
            <a:ext cx="7290626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Программа PRNG_WPF и порядок работы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</a:t>
            </a:fld>
            <a:endParaRPr lang="ru-RU" dirty="0"/>
          </a:p>
        </p:txBody>
      </p:sp>
      <p:pic>
        <p:nvPicPr>
          <p:cNvPr id="11" name="Picture 10" descr="окно_генератор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064"/>
            <a:ext cx="7565437" cy="6171936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74830E-5230-49B6-921A-1890BD2D6F81}"/>
              </a:ext>
            </a:extLst>
          </p:cNvPr>
          <p:cNvSpPr/>
          <p:nvPr/>
        </p:nvSpPr>
        <p:spPr>
          <a:xfrm>
            <a:off x="0" y="3830531"/>
            <a:ext cx="7878293" cy="3027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02545" y="4005499"/>
            <a:ext cx="12089455" cy="2539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ru-RU" sz="2000" i="0" dirty="0">
                <a:latin typeface="Times New Roman"/>
                <a:ea typeface="Times New Roman"/>
                <a:cs typeface="Times New Roman"/>
              </a:rPr>
              <a:t>1. В «Меню генераторов» выбрать «Дженнингс» и нажать «Подтвердить».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ru-RU" sz="2000" i="0" dirty="0">
                <a:latin typeface="Times New Roman"/>
                <a:ea typeface="Times New Roman"/>
                <a:cs typeface="Times New Roman"/>
              </a:rPr>
              <a:t>2. В окне генератора задать параметры двух ЛРОС и параметры генерации.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ru-RU" sz="2000" i="0" dirty="0">
                <a:latin typeface="Times New Roman"/>
                <a:ea typeface="Times New Roman"/>
                <a:cs typeface="Times New Roman"/>
              </a:rPr>
              <a:t>3. «Генерировать» — последовательность выводится в окно, открывается «Анализ последовательности» (автокорреляция и БПФ).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ru-RU" sz="2000" i="0" dirty="0">
                <a:latin typeface="Times New Roman"/>
                <a:ea typeface="Times New Roman"/>
                <a:cs typeface="Times New Roman"/>
              </a:rPr>
              <a:t>4. «Сохранить» — последовательность и конфигурация записываются в файл .json.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ru-RU" sz="2000" i="0" dirty="0">
                <a:latin typeface="Times New Roman"/>
                <a:ea typeface="Times New Roman"/>
                <a:cs typeface="Times New Roman"/>
              </a:rPr>
              <a:t>5. Вкладка «Тесты» — 13 статистических тестов по сохранённому файлу.</a:t>
            </a:r>
          </a:p>
        </p:txBody>
      </p:sp>
      <p:pic>
        <p:nvPicPr>
          <p:cNvPr id="9" name="Picture 8" descr="меню_генераторов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20" y="1165133"/>
            <a:ext cx="5500929" cy="1970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078" y="324091"/>
            <a:ext cx="9076563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Запуск 1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924323" y="1294447"/>
            <a:ext cx="4115753" cy="222746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ЛРОС-1: состояние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DBCE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4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13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ЛРОС-2: состояние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CFBD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5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14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Выход: 1</a:t>
            </a:r>
            <a:r>
              <a:rPr lang="en-US" sz="2400" i="0" dirty="0">
                <a:latin typeface="Times New Roman"/>
                <a:ea typeface="Times New Roman"/>
                <a:cs typeface="Times New Roman"/>
              </a:rPr>
              <a:t> 000 </a:t>
            </a:r>
            <a:r>
              <a:rPr lang="ru-RU" sz="2400" i="0" dirty="0">
                <a:latin typeface="Times New Roman"/>
                <a:ea typeface="Times New Roman"/>
                <a:cs typeface="Times New Roman"/>
              </a:rPr>
              <a:t>чисел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C17810-CCE9-4511-8578-90990501E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53" y="980059"/>
            <a:ext cx="7401958" cy="555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83501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7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B21747-7546-4108-990A-9B26CE4B8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13" y="1085609"/>
            <a:ext cx="11035996" cy="495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83501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8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71104C-9D41-459B-859B-176BB3D45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37" y="928462"/>
            <a:ext cx="11096563" cy="47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17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6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9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9CB811-C802-48F9-94E0-AB9C8FF7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99" y="501676"/>
            <a:ext cx="9618393" cy="58546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6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10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51EAEF-71E4-40EF-9470-E8A6E0F50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61" y="501676"/>
            <a:ext cx="8230039" cy="61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5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6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/>
              <a:t>11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4F9B72-07E4-4572-AC49-DCA69A1E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79" y="756978"/>
            <a:ext cx="9088212" cy="5599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6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/>
              <a:t>12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A9BAF1-5DF1-42AB-9F9C-29B56FECE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7" y="501674"/>
            <a:ext cx="9407582" cy="544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57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6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/>
              <a:t>13</a:t>
            </a:fld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89BDED-3E07-46A6-BEFD-E0820B61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4" y="704658"/>
            <a:ext cx="11392719" cy="518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37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6181"/>
            <a:ext cx="685800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Запуск 2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14</a:t>
            </a:fld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8469154" y="1162439"/>
            <a:ext cx="3475197" cy="18995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ЛРОС-1: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FECD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13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ЛРОС-2: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CD56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5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Выход: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1 144 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чисел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1ACCDA-2CF7-4546-A23B-FC915AA66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48" y="647325"/>
            <a:ext cx="8070887" cy="5810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83501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15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0BEBDE-480E-451F-B395-16E671E39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18" y="866657"/>
            <a:ext cx="11483363" cy="51246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83501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16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94AF4D-850F-4704-A35C-AF433A19C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58" y="1056651"/>
            <a:ext cx="11232683" cy="5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88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17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C5B280-80F8-42FA-AACE-1BB5A1FF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8" y="652130"/>
            <a:ext cx="7725580" cy="58058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18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23246E-DDE6-4F6A-B39C-A4001FCBB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10" y="642614"/>
            <a:ext cx="7688853" cy="571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62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19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C6CFF6-764F-451B-8BEB-9767EADE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28" y="814142"/>
            <a:ext cx="9019900" cy="52580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20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947D3E-1A8C-43A3-8759-81406B7C1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44" y="799875"/>
            <a:ext cx="9705205" cy="520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24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21</a:t>
            </a:fld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A2BF52-C4A5-4528-9E04-4224EF50B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80" y="742574"/>
            <a:ext cx="11286091" cy="504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4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097"/>
            <a:ext cx="685800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Запуск 3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22</a:t>
            </a:fld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8308657" y="1051560"/>
            <a:ext cx="3740468" cy="18995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ЛРОС-1: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FECD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9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ЛРОС-2: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CD56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5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Выход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: 100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000 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чисел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4D3DF8-636E-4582-90F3-AD603F33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428578"/>
            <a:ext cx="7927379" cy="59277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23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61DF77-27C7-4C4A-80DE-7E624AF9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76" y="723661"/>
            <a:ext cx="11301816" cy="50199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24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B1A454-76F6-4FAA-8E1C-7448382EB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47" y="1079274"/>
            <a:ext cx="11516506" cy="492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50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25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C8F735-E6F8-4FF6-887C-36AEC7AA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72" y="685479"/>
            <a:ext cx="7787128" cy="56815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83502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7 из 13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26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BF15FA-7CA1-4C12-85CF-219344C80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1" y="685178"/>
            <a:ext cx="7876413" cy="591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95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83501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7 из 13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27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BCD1E4-4B79-4F40-A85D-9BD1A04D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37" y="804612"/>
            <a:ext cx="9509951" cy="56549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28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60757B-CA8D-446B-9E7E-B1426C8E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06" y="699863"/>
            <a:ext cx="10019739" cy="538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5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29</a:t>
            </a:fld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110FB9-FB5A-40E3-9812-977562F9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03" y="1054797"/>
            <a:ext cx="10326157" cy="474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17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85800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Запуск 4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30</a:t>
            </a:fld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8294370" y="1188720"/>
            <a:ext cx="3654743" cy="18995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ЛРОС-1: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FECD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9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ЛРОС-2: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CD56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5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14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Выход:</a:t>
            </a:r>
            <a:r>
              <a:rPr lang="en-US" sz="2000" b="1" i="0" dirty="0">
                <a:latin typeface="Times New Roman"/>
                <a:ea typeface="Times New Roman"/>
                <a:cs typeface="Times New Roman"/>
              </a:rPr>
              <a:t> 259 970 </a:t>
            </a: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чисел</a:t>
            </a:r>
            <a:endParaRPr lang="ru-RU" sz="2000" b="0" i="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9BFA29-A0CD-4036-BA89-C6A725BFF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94" y="623496"/>
            <a:ext cx="7430537" cy="56110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31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AA85B7-FF0C-4650-8C18-AD30498D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41" y="847603"/>
            <a:ext cx="11310317" cy="516279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32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ED27B2-9F99-404C-A934-FAE869B31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51" y="933219"/>
            <a:ext cx="11087514" cy="476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94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33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1CEE3-8F92-45E1-B34B-45E8C0E53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20" y="618796"/>
            <a:ext cx="7998579" cy="601415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34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3DC2BF-C09D-4C86-A360-78FD86B5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6" y="558825"/>
            <a:ext cx="8139554" cy="603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81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35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75A390-77B9-4633-B7F1-809DFFB7F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90" y="818896"/>
            <a:ext cx="9079690" cy="553745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36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22923B-EADE-4431-BD7D-B4FCCDAEE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3" y="709500"/>
            <a:ext cx="10137783" cy="54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10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7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37</a:t>
            </a:fld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6A02D5-04E4-4E18-916F-FC64E5395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07" y="895159"/>
            <a:ext cx="10643539" cy="486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2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85800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Запуск 5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38</a:t>
            </a:fld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8389620" y="951547"/>
            <a:ext cx="3654743" cy="18995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ЛРОС-1: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FECD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ЛРОС-2: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CD56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14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, длина </a:t>
            </a:r>
            <a:r>
              <a:rPr lang="en-US" sz="2000" b="0" i="0" dirty="0">
                <a:latin typeface="Times New Roman"/>
                <a:ea typeface="Times New Roman"/>
                <a:cs typeface="Times New Roman"/>
              </a:rPr>
              <a:t>16</a:t>
            </a:r>
            <a:r>
              <a:rPr lang="ru-RU"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Выход:</a:t>
            </a:r>
            <a:r>
              <a:rPr lang="en-US" sz="2000" b="1" i="0" dirty="0">
                <a:latin typeface="Times New Roman"/>
                <a:ea typeface="Times New Roman"/>
                <a:cs typeface="Times New Roman"/>
              </a:rPr>
              <a:t> 342 </a:t>
            </a:r>
            <a:r>
              <a:rPr lang="ru-RU" sz="2000" b="1" i="0" dirty="0">
                <a:latin typeface="Times New Roman"/>
                <a:ea typeface="Times New Roman"/>
                <a:cs typeface="Times New Roman"/>
              </a:rPr>
              <a:t>чисел</a:t>
            </a:r>
            <a:endParaRPr lang="ru-RU" sz="2000" b="0" i="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BEFD6A-9946-4C44-BFDE-3DBAA976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84" y="684238"/>
            <a:ext cx="7856790" cy="585467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39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98EA08-246A-4663-831D-0CDB64F5E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46" y="833316"/>
            <a:ext cx="11480907" cy="519136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40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710FAE-F390-4238-9EC6-6D8572D87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19" y="737947"/>
            <a:ext cx="11584897" cy="523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140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5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41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524DF4-5D23-4D5C-A476-74D52D1E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2" y="501675"/>
            <a:ext cx="8290656" cy="611343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5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42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81D999-5384-4E60-81E9-00AED1763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6" y="501676"/>
            <a:ext cx="8235013" cy="62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76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5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43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306CF1-594A-4A39-95C4-11BD259FE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1" y="1047499"/>
            <a:ext cx="8172797" cy="486752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5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44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D3E3DB-C66E-4337-B49C-89400BA99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3" y="1076105"/>
            <a:ext cx="8884324" cy="461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9064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5</a:t>
            </a:r>
            <a:r>
              <a:rPr lang="ru-RU" sz="2800" b="1" dirty="0">
                <a:latin typeface="Times New Roman"/>
                <a:cs typeface="Times New Roman"/>
              </a:rPr>
              <a:t> из 1</a:t>
            </a:r>
            <a:r>
              <a:rPr lang="en-US" sz="2800" b="1" dirty="0">
                <a:latin typeface="Times New Roman"/>
                <a:cs typeface="Times New Roman"/>
              </a:rPr>
              <a:t>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45</a:t>
            </a:fld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8419AA-08F8-4DFB-9A2F-A5FF94803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3" y="904687"/>
            <a:ext cx="11046575" cy="489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46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CAED3-2384-B17C-A554-04B70761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F41CF-FC42-9797-4A7C-9C1165FFFB2D}"/>
              </a:ext>
            </a:extLst>
          </p:cNvPr>
          <p:cNvSpPr txBox="1"/>
          <p:nvPr/>
        </p:nvSpPr>
        <p:spPr>
          <a:xfrm>
            <a:off x="0" y="0"/>
            <a:ext cx="685800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Запуск 6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5F4F15-5D3A-EF0D-75FC-1843422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46</a:t>
            </a:fld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7040F-CF10-8A08-D7C8-9CEF3476FA1B}"/>
              </a:ext>
            </a:extLst>
          </p:cNvPr>
          <p:cNvSpPr txBox="1"/>
          <p:nvPr/>
        </p:nvSpPr>
        <p:spPr>
          <a:xfrm>
            <a:off x="8303895" y="1165859"/>
            <a:ext cx="3654743" cy="18995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ЛРОС-1: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FECDF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4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длина 16.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ЛРОС-2: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 состояние 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CD56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отводы 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6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10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1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4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, длина 16.</a:t>
            </a:r>
          </a:p>
          <a:p>
            <a:pPr marL="285750" indent="-285750" algn="l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Выход: 698028 чисел</a:t>
            </a:r>
            <a:endParaRPr lang="ru-RU" sz="2000" b="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E08389-E8B8-4596-9DB8-E5C912475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633022"/>
            <a:ext cx="7910513" cy="590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92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7F6F-1F14-D310-D2BA-CEB69F7A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B56A4-492E-CCD5-3BA0-7BD9261D82DE}"/>
              </a:ext>
            </a:extLst>
          </p:cNvPr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8451C5-9E7B-8834-3B10-C6B94BB8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47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9FA36F-5185-4D6F-BA5E-744B13410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79" y="940472"/>
            <a:ext cx="11061642" cy="497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282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9455-9377-B979-066A-41F64F90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A29019-3A29-0DBA-47CC-DBCFFFA6A6B5}"/>
              </a:ext>
            </a:extLst>
          </p:cNvPr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Автокорреляция и БПФ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C5D641-C929-AD4B-B97F-69222F53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48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F64740-A558-4948-89CC-F7194A60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53" y="914157"/>
            <a:ext cx="11772493" cy="531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57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73D66-0CDF-61AB-2B5F-A3B0DB4B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83303-4E1F-DF47-EF06-43DA4D8A2252}"/>
              </a:ext>
            </a:extLst>
          </p:cNvPr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пройдено </a:t>
            </a:r>
            <a:r>
              <a:rPr lang="en-US" sz="2800" b="1" dirty="0">
                <a:latin typeface="Times New Roman"/>
                <a:cs typeface="Times New Roman"/>
              </a:rPr>
              <a:t>4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9B23F0-159D-076A-8776-8CA246F9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49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8C5865-AEEB-4010-88F4-25B53A23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80" y="633079"/>
            <a:ext cx="7449576" cy="556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42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F8CDE-DFCE-1B80-99FD-BF7E7AB0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CD7F0-5419-D6D6-822D-D0D8B1D0C880}"/>
              </a:ext>
            </a:extLst>
          </p:cNvPr>
          <p:cNvSpPr txBox="1"/>
          <p:nvPr/>
        </p:nvSpPr>
        <p:spPr>
          <a:xfrm>
            <a:off x="0" y="0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 пройдено </a:t>
            </a:r>
            <a:r>
              <a:rPr lang="en-US" sz="2800" b="1" dirty="0">
                <a:latin typeface="Times New Roman"/>
                <a:cs typeface="Times New Roman"/>
              </a:rPr>
              <a:t>4</a:t>
            </a:r>
            <a:r>
              <a:rPr lang="ru-RU" sz="2800" b="1" dirty="0">
                <a:latin typeface="Times New Roman"/>
                <a:cs typeface="Times New Roman"/>
              </a:rPr>
              <a:t> из </a:t>
            </a:r>
            <a:r>
              <a:rPr lang="en-US" sz="2800" b="1" dirty="0">
                <a:latin typeface="Times New Roman"/>
                <a:cs typeface="Times New Roman"/>
              </a:rPr>
              <a:t>13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4B8514-64C7-0924-D434-9B4EC133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50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8DA6F6-940E-4ACD-B036-C5BA979BC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8" y="501676"/>
            <a:ext cx="8428463" cy="62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9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55AA-7B79-9F62-AF24-69EA35F1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ACAAF-4982-4481-46EB-3824A4EFBE57}"/>
              </a:ext>
            </a:extLst>
          </p:cNvPr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 пройдено 4 из 13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45694B-CD06-6ABF-B3B0-4C0BC29B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51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2DBE04-A3B1-474A-8C20-6C711102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39" y="809372"/>
            <a:ext cx="8869432" cy="527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81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30AD-1B14-6410-916B-C8ACBFE4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3E85E6-9FA2-500A-D82C-78E79FB9C582}"/>
              </a:ext>
            </a:extLst>
          </p:cNvPr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 пройдено 4 из 13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E226ED-05DF-A196-358A-1F8198A9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52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09EACF-82A9-438A-9E59-E6229192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20" y="942864"/>
            <a:ext cx="9362206" cy="49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992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30AD-1B14-6410-916B-C8ACBFE4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3E85E6-9FA2-500A-D82C-78E79FB9C582}"/>
              </a:ext>
            </a:extLst>
          </p:cNvPr>
          <p:cNvSpPr txBox="1"/>
          <p:nvPr/>
        </p:nvSpPr>
        <p:spPr>
          <a:xfrm>
            <a:off x="0" y="92684"/>
            <a:ext cx="694944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Вкладка «Тесты»:  пройдено 4 из 13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E226ED-05DF-A196-358A-1F8198A9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53</a:t>
            </a:fld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71189E-677B-4C36-9104-3811174F1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00" y="852113"/>
            <a:ext cx="10165948" cy="451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170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54</a:t>
            </a:fld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F2977D-847F-442E-AE0A-2882E55A4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5812"/>
            <a:ext cx="8568911" cy="221456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510636-C96A-4C62-A23D-A52854F64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0" y="2556906"/>
            <a:ext cx="6239746" cy="39820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8B33F6-64FF-4F88-A600-76ADDA3C2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722" y="3652434"/>
            <a:ext cx="6106377" cy="179095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1187331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/>
                <a:cs typeface="Times New Roman"/>
              </a:rPr>
              <a:t>Анализ – исходный вариант – исследование на</a:t>
            </a:r>
          </a:p>
          <a:p>
            <a:r>
              <a:rPr lang="ru-RU" sz="3600" b="1" dirty="0">
                <a:latin typeface="Times New Roman"/>
                <a:cs typeface="Times New Roman"/>
              </a:rPr>
              <a:t>                                                                             прохождение </a:t>
            </a:r>
          </a:p>
          <a:p>
            <a:r>
              <a:rPr lang="ru-RU" sz="3600" b="1" dirty="0">
                <a:latin typeface="Times New Roman"/>
                <a:cs typeface="Times New Roman"/>
              </a:rPr>
              <a:t>                                                                                  тестов</a:t>
            </a:r>
          </a:p>
        </p:txBody>
      </p:sp>
    </p:spTree>
    <p:extLst>
      <p:ext uri="{BB962C8B-B14F-4D97-AF65-F5344CB8AC3E}">
        <p14:creationId xmlns:p14="http://schemas.microsoft.com/office/powerpoint/2010/main" val="15213742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55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93759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– повысили количество заданных чисел 1 ЛРОС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5CAC35-696F-4097-9B32-3FE764A46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1" y="2998341"/>
            <a:ext cx="5991660" cy="38596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1ED391-9D09-4E2B-AA7C-821D6E21A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201" y="3429000"/>
            <a:ext cx="3354798" cy="24860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19E4408-6814-41DC-9F34-C62C21ECE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40" y="548671"/>
            <a:ext cx="8839576" cy="271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056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56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82058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– поменяли начальное состояние 1 ЛРОС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A7643C-1CE6-4894-B065-131735CD0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0" y="637848"/>
            <a:ext cx="7411484" cy="195289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FFDBB1-12E2-43AC-BC30-F957197B5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01" y="2614325"/>
            <a:ext cx="6258798" cy="41153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41FAD6-2A20-4F64-B88E-D2DC724E8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763" y="3181287"/>
            <a:ext cx="3609971" cy="298144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E3BDBF-EA76-46D5-B516-268DAB093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838" y="643664"/>
            <a:ext cx="3824724" cy="2440816"/>
          </a:xfrm>
          <a:prstGeom prst="rect">
            <a:avLst/>
          </a:prstGeom>
        </p:spPr>
      </p:pic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1512C1F-1800-45CF-9144-060B519F2207}"/>
              </a:ext>
            </a:extLst>
          </p:cNvPr>
          <p:cNvCxnSpPr/>
          <p:nvPr/>
        </p:nvCxnSpPr>
        <p:spPr>
          <a:xfrm flipH="1">
            <a:off x="6096000" y="2590746"/>
            <a:ext cx="1804988" cy="9525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3429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57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80191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</a:t>
            </a:r>
            <a:r>
              <a:rPr lang="en-US" sz="2800" b="1" dirty="0">
                <a:latin typeface="Times New Roman"/>
                <a:cs typeface="Times New Roman"/>
              </a:rPr>
              <a:t> - </a:t>
            </a:r>
            <a:r>
              <a:rPr lang="ru-RU" sz="2800" b="1" dirty="0">
                <a:latin typeface="Times New Roman"/>
                <a:cs typeface="Times New Roman"/>
              </a:rPr>
              <a:t>повысили количество заданных чисел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28FBF0-D628-444C-B57A-F34118181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0" y="2633041"/>
            <a:ext cx="6220693" cy="400105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D11833-DB9D-4EB5-BCB7-A18B16249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077" y="3074989"/>
            <a:ext cx="3967311" cy="32023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3149FE-DC99-44A3-A410-76E380C6D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76" y="580698"/>
            <a:ext cx="7373379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967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58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82058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– поменяли начальное состояние 2 ЛРОС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2057A3B-731C-4515-975D-75206FFB3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6" y="2758112"/>
            <a:ext cx="6258798" cy="405821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9A1CB2-4CA3-4102-ABCC-6E1053B08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16" y="580698"/>
            <a:ext cx="7382905" cy="19910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1651DF5-11B1-41EE-9D33-E1D30B10B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460" y="1370338"/>
            <a:ext cx="3824724" cy="2440816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8A21DA13-3F99-4404-AC8E-4AE92FE59E4F}"/>
              </a:ext>
            </a:extLst>
          </p:cNvPr>
          <p:cNvCxnSpPr/>
          <p:nvPr/>
        </p:nvCxnSpPr>
        <p:spPr>
          <a:xfrm flipH="1">
            <a:off x="6174859" y="2773499"/>
            <a:ext cx="1804988" cy="9525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2297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59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7929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</a:t>
            </a:r>
            <a:r>
              <a:rPr lang="en-US" sz="2800" b="1" dirty="0">
                <a:latin typeface="Times New Roman"/>
                <a:cs typeface="Times New Roman"/>
              </a:rPr>
              <a:t>- </a:t>
            </a:r>
            <a:r>
              <a:rPr lang="ru-RU" sz="2800" b="1" dirty="0">
                <a:latin typeface="Times New Roman"/>
                <a:cs typeface="Times New Roman"/>
              </a:rPr>
              <a:t>повысили количество заданных чисел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4CC9CC-8F5F-4379-A133-A2037167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0" y="580698"/>
            <a:ext cx="7440063" cy="23339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5F3100-F3E9-4E17-9942-271D552A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0" y="3161107"/>
            <a:ext cx="5767612" cy="34339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C49B2F-F07C-46BE-9ED2-DBA209C74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542" y="3084582"/>
            <a:ext cx="3791096" cy="32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671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60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60960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– поменяли влияющие биты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33685C8-F49E-4A30-91DD-584C3B7D1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0" y="2644206"/>
            <a:ext cx="6268325" cy="40772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F8DD805-04A7-4E0F-8DC5-7955287BC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90" y="580698"/>
            <a:ext cx="7373379" cy="189574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BFDCBFD-99F5-4784-BDF0-950BFFE15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665" y="3449314"/>
            <a:ext cx="4279135" cy="246705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CD5A9DD-F10D-400D-A8ED-8794FF522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1423" y="624579"/>
            <a:ext cx="3824724" cy="2440816"/>
          </a:xfrm>
          <a:prstGeom prst="rect">
            <a:avLst/>
          </a:prstGeom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9F6C1E2C-E410-42C0-B27A-EFA582AA3BD6}"/>
              </a:ext>
            </a:extLst>
          </p:cNvPr>
          <p:cNvCxnSpPr/>
          <p:nvPr/>
        </p:nvCxnSpPr>
        <p:spPr>
          <a:xfrm flipH="1">
            <a:off x="6174859" y="2773499"/>
            <a:ext cx="1804988" cy="9525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569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61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7929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</a:t>
            </a:r>
            <a:r>
              <a:rPr lang="en-US" sz="2800" b="1" dirty="0">
                <a:latin typeface="Times New Roman"/>
                <a:cs typeface="Times New Roman"/>
              </a:rPr>
              <a:t>- </a:t>
            </a:r>
            <a:r>
              <a:rPr lang="ru-RU" sz="2800" b="1" dirty="0">
                <a:latin typeface="Times New Roman"/>
                <a:cs typeface="Times New Roman"/>
              </a:rPr>
              <a:t>повысили количество заданных чисел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730889-64C8-47CF-A23C-03AB54754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319" y="3433028"/>
            <a:ext cx="4974942" cy="25906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E54278-5771-487B-B213-74F977E9C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0" y="757728"/>
            <a:ext cx="8871624" cy="209083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97BEA33-56BB-4DDD-A675-51B3A1B9F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16" y="2494977"/>
            <a:ext cx="6225778" cy="404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703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62</a:t>
            </a:fld>
            <a:endParaRPr lang="ru-RU" sz="24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7D477BC-909A-4B2B-972B-F1DF3BA59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07" y="2568587"/>
            <a:ext cx="6344535" cy="406774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45FBC1-88B0-4E74-9F5D-434433D75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01" y="580698"/>
            <a:ext cx="6549238" cy="2089275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13C10ED-A29D-4CA8-8D7C-46A3472E6667}"/>
              </a:ext>
            </a:extLst>
          </p:cNvPr>
          <p:cNvSpPr/>
          <p:nvPr/>
        </p:nvSpPr>
        <p:spPr>
          <a:xfrm>
            <a:off x="52784" y="-14288"/>
            <a:ext cx="1187331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Times New Roman"/>
                <a:cs typeface="Times New Roman"/>
              </a:rPr>
              <a:t>Анализ – исходный вариант – исследование на</a:t>
            </a:r>
          </a:p>
          <a:p>
            <a:r>
              <a:rPr lang="ru-RU" sz="3600" b="1" dirty="0">
                <a:latin typeface="Times New Roman"/>
                <a:cs typeface="Times New Roman"/>
              </a:rPr>
              <a:t>                                                                             прохождение </a:t>
            </a:r>
          </a:p>
          <a:p>
            <a:r>
              <a:rPr lang="ru-RU" sz="3600" b="1" dirty="0">
                <a:latin typeface="Times New Roman"/>
                <a:cs typeface="Times New Roman"/>
              </a:rPr>
              <a:t>                                                                                  тестов</a:t>
            </a:r>
          </a:p>
        </p:txBody>
      </p:sp>
    </p:spTree>
    <p:extLst>
      <p:ext uri="{BB962C8B-B14F-4D97-AF65-F5344CB8AC3E}">
        <p14:creationId xmlns:p14="http://schemas.microsoft.com/office/powerpoint/2010/main" val="8840252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63</a:t>
            </a:fld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559866-8877-4117-B63A-09A77C45F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07" y="2528327"/>
            <a:ext cx="6277851" cy="401058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FB9910-230A-4A0E-9A57-02325DC9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37" y="580698"/>
            <a:ext cx="7287642" cy="236253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D8648A-90A5-484D-AD64-CA409B42D1E5}"/>
              </a:ext>
            </a:extLst>
          </p:cNvPr>
          <p:cNvSpPr/>
          <p:nvPr/>
        </p:nvSpPr>
        <p:spPr>
          <a:xfrm>
            <a:off x="104340" y="57478"/>
            <a:ext cx="7929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</a:t>
            </a:r>
            <a:r>
              <a:rPr lang="en-US" sz="2800" b="1" dirty="0">
                <a:latin typeface="Times New Roman"/>
                <a:cs typeface="Times New Roman"/>
              </a:rPr>
              <a:t>- </a:t>
            </a:r>
            <a:r>
              <a:rPr lang="ru-RU" sz="2800" b="1" dirty="0">
                <a:latin typeface="Times New Roman"/>
                <a:cs typeface="Times New Roman"/>
              </a:rPr>
              <a:t>повысили количество заданных чисел</a:t>
            </a:r>
          </a:p>
        </p:txBody>
      </p:sp>
    </p:spTree>
    <p:extLst>
      <p:ext uri="{BB962C8B-B14F-4D97-AF65-F5344CB8AC3E}">
        <p14:creationId xmlns:p14="http://schemas.microsoft.com/office/powerpoint/2010/main" val="12076305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64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63351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– поменяли длину регистров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B9B11A-689B-420C-8666-B1D61965F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0" y="2868937"/>
            <a:ext cx="5877360" cy="385253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6CB673-F6E5-4759-A2CB-10F51B914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40" y="580698"/>
            <a:ext cx="7392432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226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A011-0631-7F94-20F8-2E146FF6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95BA8E-8309-1B66-10A6-FE077E08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65</a:t>
            </a:fld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0B1407-3994-4B11-B071-D7B1305A70ED}"/>
              </a:ext>
            </a:extLst>
          </p:cNvPr>
          <p:cNvSpPr/>
          <p:nvPr/>
        </p:nvSpPr>
        <p:spPr>
          <a:xfrm>
            <a:off x="104340" y="57478"/>
            <a:ext cx="78106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/>
                <a:cs typeface="Times New Roman"/>
              </a:rPr>
              <a:t>Анализ - </a:t>
            </a:r>
            <a:r>
              <a:rPr lang="ru-RU" sz="2800" dirty="0">
                <a:latin typeface="Times New Roman"/>
                <a:ea typeface="Times New Roman"/>
                <a:cs typeface="Times New Roman"/>
              </a:rPr>
              <a:t>Короткие регистры дают короткий цикл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283479-2ADA-418E-923A-64B3A2E6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0" y="580698"/>
            <a:ext cx="7877520" cy="50057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24188A-2EA8-4128-B4C4-CDFF4763A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100" y="3083555"/>
            <a:ext cx="5501123" cy="368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280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53306"/>
            <a:ext cx="6858000" cy="4431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400" b="1" dirty="0">
                <a:latin typeface="Times New Roman"/>
                <a:ea typeface="Times New Roman"/>
                <a:cs typeface="Times New Roman"/>
              </a:rPr>
              <a:t>Итоговая таблица</a:t>
            </a:r>
            <a:endParaRPr lang="ru-RU" sz="2400" b="1" i="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66</a:t>
            </a:fld>
            <a:endParaRPr lang="ru-RU" sz="2400" dirty="0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503B5F51-436A-4D84-B406-FA21819DA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87132"/>
              </p:ext>
            </p:extLst>
          </p:nvPr>
        </p:nvGraphicFramePr>
        <p:xfrm>
          <a:off x="210312" y="762529"/>
          <a:ext cx="1166260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98">
                  <a:extLst>
                    <a:ext uri="{9D8B030D-6E8A-4147-A177-3AD203B41FA5}">
                      <a16:colId xmlns:a16="http://schemas.microsoft.com/office/drawing/2014/main" val="2511529391"/>
                    </a:ext>
                  </a:extLst>
                </a:gridCol>
                <a:gridCol w="933577">
                  <a:extLst>
                    <a:ext uri="{9D8B030D-6E8A-4147-A177-3AD203B41FA5}">
                      <a16:colId xmlns:a16="http://schemas.microsoft.com/office/drawing/2014/main" val="514785744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183413366"/>
                    </a:ext>
                  </a:extLst>
                </a:gridCol>
                <a:gridCol w="830659">
                  <a:extLst>
                    <a:ext uri="{9D8B030D-6E8A-4147-A177-3AD203B41FA5}">
                      <a16:colId xmlns:a16="http://schemas.microsoft.com/office/drawing/2014/main" val="1922056548"/>
                    </a:ext>
                  </a:extLst>
                </a:gridCol>
                <a:gridCol w="752706">
                  <a:extLst>
                    <a:ext uri="{9D8B030D-6E8A-4147-A177-3AD203B41FA5}">
                      <a16:colId xmlns:a16="http://schemas.microsoft.com/office/drawing/2014/main" val="301054404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1973483434"/>
                    </a:ext>
                  </a:extLst>
                </a:gridCol>
                <a:gridCol w="577711">
                  <a:extLst>
                    <a:ext uri="{9D8B030D-6E8A-4147-A177-3AD203B41FA5}">
                      <a16:colId xmlns:a16="http://schemas.microsoft.com/office/drawing/2014/main" val="1613639280"/>
                    </a:ext>
                  </a:extLst>
                </a:gridCol>
                <a:gridCol w="1134671">
                  <a:extLst>
                    <a:ext uri="{9D8B030D-6E8A-4147-A177-3AD203B41FA5}">
                      <a16:colId xmlns:a16="http://schemas.microsoft.com/office/drawing/2014/main" val="330279040"/>
                    </a:ext>
                  </a:extLst>
                </a:gridCol>
                <a:gridCol w="1334988">
                  <a:extLst>
                    <a:ext uri="{9D8B030D-6E8A-4147-A177-3AD203B41FA5}">
                      <a16:colId xmlns:a16="http://schemas.microsoft.com/office/drawing/2014/main" val="2585872836"/>
                    </a:ext>
                  </a:extLst>
                </a:gridCol>
                <a:gridCol w="1127323">
                  <a:extLst>
                    <a:ext uri="{9D8B030D-6E8A-4147-A177-3AD203B41FA5}">
                      <a16:colId xmlns:a16="http://schemas.microsoft.com/office/drawing/2014/main" val="1888341025"/>
                    </a:ext>
                  </a:extLst>
                </a:gridCol>
                <a:gridCol w="1254968">
                  <a:extLst>
                    <a:ext uri="{9D8B030D-6E8A-4147-A177-3AD203B41FA5}">
                      <a16:colId xmlns:a16="http://schemas.microsoft.com/office/drawing/2014/main" val="1585392594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4029124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ЛРОС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 ЛРОС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вл. биты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 вл. биты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дл.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 дл.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Чисел</a:t>
                      </a:r>
                    </a:p>
                    <a:p>
                      <a:r>
                        <a:rPr lang="ru-RU" dirty="0"/>
                        <a:t>(задано)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Чисел (получено)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Пиковая частота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 мощность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47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DBCE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CFBD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148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,3 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Не зациклилось</a:t>
                      </a:r>
                    </a:p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/13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80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FECD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CD56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147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,3 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дБ</a:t>
                      </a:r>
                    </a:p>
                    <a:p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Зациклилось</a:t>
                      </a:r>
                      <a:endParaRPr lang="en-US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7/13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08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FECD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CD56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4128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128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дБ</a:t>
                      </a:r>
                    </a:p>
                    <a:p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Не зациклилось</a:t>
                      </a:r>
                      <a:endParaRPr lang="en-US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7/13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65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FECD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CD56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259 970 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8256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124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,6 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Зациклилось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7/13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24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FECD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CD56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, 10, 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6, 10, 14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10000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342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161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153,1 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Зациклилось</a:t>
                      </a:r>
                      <a:endParaRPr lang="en-US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5/13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486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FECDF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CD56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1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698028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3075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119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,4 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Зациклилось</a:t>
                      </a:r>
                      <a:endParaRPr lang="en-US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latin typeface="Times New Roman"/>
                          <a:cs typeface="Times New Roman"/>
                        </a:rPr>
                        <a:t>4/13</a:t>
                      </a:r>
                      <a:endParaRPr lang="ru-RU" sz="1800" i="0" kern="120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358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6401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174" y="342252"/>
            <a:ext cx="6858000" cy="501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ru-RU" sz="2800" b="1" dirty="0">
                <a:latin typeface="Times New Roman"/>
                <a:cs typeface="Times New Roman"/>
              </a:rPr>
              <a:t>Минусы генератора Дженнингса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mtClean="0"/>
              <a:t>67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11247120" cy="214219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>
              <a:lnSpc>
                <a:spcPct val="108000"/>
              </a:lnSpc>
              <a:spcAft>
                <a:spcPts val="900"/>
              </a:spcAft>
              <a:buNone/>
            </a:pP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1. Линейная основа.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 Оба регистра линейны: для ЛРОС длины n достаточно n бит выхода, чтобы найти его состояние, и 2n бит — чтобы определить обратную связь. Р. Андерсон вскрыл генератор методами «встречи посередине» и линейной корректности.</a:t>
            </a:r>
          </a:p>
          <a:p>
            <a:pPr algn="just">
              <a:lnSpc>
                <a:spcPct val="108000"/>
              </a:lnSpc>
              <a:spcAft>
                <a:spcPts val="900"/>
              </a:spcAft>
              <a:buNone/>
            </a:pP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2. Зависимость от параметров.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 Короткие регистры дают короткий цикл: при 8-битных ЛРОС с отводами 2, 4, 6 и 6, 7, 8 программа остановит генерацию через 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64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 бита («последовательность зациклилась»);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153306"/>
            <a:ext cx="6858000" cy="4431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2400" b="1" i="0" dirty="0">
                <a:latin typeface="Times New Roman"/>
                <a:ea typeface="Times New Roman"/>
                <a:cs typeface="Times New Roman"/>
              </a:rPr>
              <a:t>Выводы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68</a:t>
            </a:fld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10312" y="658368"/>
            <a:ext cx="11338560" cy="46367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>
              <a:lnSpc>
                <a:spcPct val="108000"/>
              </a:lnSpc>
              <a:spcAft>
                <a:spcPts val="800"/>
              </a:spcAft>
              <a:buNone/>
            </a:pP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В работе исследован генератор Дженнингса в программе PRNG_WPF:</a:t>
            </a:r>
          </a:p>
          <a:p>
            <a:pPr marL="285750" indent="-285750" algn="just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Начальное состояние 1 ЛРОС влияет на прохождение тестов. При его изменении поменяются тесты</a:t>
            </a:r>
            <a:r>
              <a:rPr lang="en-US" sz="2000" b="0" dirty="0">
                <a:latin typeface="Times New Roman"/>
                <a:ea typeface="Times New Roman"/>
                <a:cs typeface="Times New Roman"/>
              </a:rPr>
              <a:t>,</a:t>
            </a: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 которые генератор будет проходить.</a:t>
            </a:r>
            <a:endParaRPr lang="en-US" sz="2000" b="0" dirty="0">
              <a:latin typeface="Times New Roman"/>
              <a:ea typeface="Times New Roman"/>
              <a:cs typeface="Times New Roman"/>
            </a:endParaRPr>
          </a:p>
          <a:p>
            <a:pPr marL="285750" indent="-285750" algn="just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b="0" dirty="0">
                <a:latin typeface="Times New Roman"/>
                <a:ea typeface="Times New Roman"/>
                <a:cs typeface="Times New Roman"/>
              </a:rPr>
              <a:t>Количество заданных чисел для генерации 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влияет на прохождение тестов. </a:t>
            </a:r>
          </a:p>
          <a:p>
            <a:pPr marL="285750" indent="-285750" algn="just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dirty="0">
                <a:latin typeface="Times New Roman"/>
                <a:ea typeface="Times New Roman"/>
                <a:cs typeface="Times New Roman"/>
              </a:rPr>
              <a:t>Параметры «Влияющие биты»  и «Длина регистров» меняют количество прохождение тестов. </a:t>
            </a:r>
          </a:p>
          <a:p>
            <a:pPr marL="285750" indent="-285750" algn="just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dirty="0">
                <a:latin typeface="Times New Roman"/>
                <a:ea typeface="Times New Roman"/>
                <a:cs typeface="Times New Roman"/>
              </a:rPr>
              <a:t>Число бит в длине регистров ставят верхнюю планку в количестве сгенерированных чисел. Если принять за 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n 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– число бит длины регистров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,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 то количество сгенерированных чисел не будет превышать 2 в степени 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n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 независимо от значения других параметров.</a:t>
            </a:r>
          </a:p>
          <a:p>
            <a:pPr marL="285750" indent="-285750" algn="just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lang="ru-RU" sz="2000" dirty="0">
                <a:latin typeface="Times New Roman"/>
                <a:ea typeface="Times New Roman"/>
                <a:cs typeface="Times New Roman"/>
              </a:rPr>
              <a:t>Зацикливание генератора связано с влияющими битами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Если все влияющие биты чётные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,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 то генератор очень быстро зациклиться</a:t>
            </a:r>
            <a:r>
              <a:rPr lang="en-US" sz="2000" dirty="0">
                <a:latin typeface="Times New Roman"/>
                <a:ea typeface="Times New Roman"/>
                <a:cs typeface="Times New Roman"/>
              </a:rPr>
              <a:t>, 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поэтому следует чередовать их четность для генерации большего количества чисел.</a:t>
            </a:r>
          </a:p>
          <a:p>
            <a:pPr marL="285750" indent="-285750" algn="just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endParaRPr lang="ru-RU" sz="2000" b="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" y="91440"/>
            <a:ext cx="6858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ru-RU" sz="1800" b="1" i="0">
                <a:latin typeface="Times New Roman"/>
                <a:ea typeface="Times New Roman"/>
                <a:cs typeface="Times New Roman"/>
              </a:rPr>
              <a:t>Список использованных источников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9161C-96D4-0359-F4E5-4019EA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18B1-B91B-4712-9FB4-48DA996CECD6}" type="slidenum">
              <a:rPr lang="ru-RU" sz="2400" smtClean="0"/>
              <a:t>69</a:t>
            </a:fld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11338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1. Воронина Е. Г., Сидоренко В. Г. Генераторы случайных чисел: учебное пособие. — М.: РУТ (МИИТ), 2021. — 80 с.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2. Руководство к программе PRNG_WPF (файл «Генераторы_PRNG», разд. 1.3.3 «Генератор Дженнингса»).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3. Шнайер Б. Прикладная криптография. — М.: Триумф, 2002.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4. Автоношкин А. М., Куминов В. П., Сидоренко В. Г., Смецкая А. С. Интеллектуальная система анализа и классификации генераторов псевдослучайных чисел // Надёжность. — 2025. — Т. 25, № 3. — С. 21–28. DOI 10.21683/1729-2646-2025-25-3-21-28.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2515</TotalTime>
  <Words>1569</Words>
  <Application>Microsoft Office PowerPoint</Application>
  <PresentationFormat>Широкоэкранный</PresentationFormat>
  <Paragraphs>288</Paragraphs>
  <Slides>69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69</vt:i4>
      </vt:variant>
    </vt:vector>
  </HeadingPairs>
  <TitlesOfParts>
    <vt:vector size="75" baseType="lpstr">
      <vt:lpstr>Aptos</vt:lpstr>
      <vt:lpstr>Arial</vt:lpstr>
      <vt:lpstr>Calibri</vt:lpstr>
      <vt:lpstr>Calibri Light</vt:lpstr>
      <vt:lpstr>Times New Roman</vt:lpstr>
      <vt:lpstr>Тема Office</vt:lpstr>
      <vt:lpstr>Лабораторная работа № 1 «Генераторы псевдослучайных чисел. Генератор Дженнингса»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Alexey Mayow</dc:creator>
  <cp:lastModifiedBy>Сергей Буланый</cp:lastModifiedBy>
  <cp:revision>124</cp:revision>
  <dcterms:created xsi:type="dcterms:W3CDTF">2025-09-24T18:52:24Z</dcterms:created>
  <dcterms:modified xsi:type="dcterms:W3CDTF">2026-10-12T15:12:32Z</dcterms:modified>
</cp:coreProperties>
</file>